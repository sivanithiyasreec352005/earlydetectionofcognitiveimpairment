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Alexandria Bold" panose="020B0604020202020204" charset="-78"/>
      <p:regular r:id="rId18"/>
    </p:embeddedFont>
    <p:embeddedFont>
      <p:font typeface="Canva Sans Bold" panose="020B0604020202020204" charset="0"/>
      <p:regular r:id="rId19"/>
    </p:embeddedFont>
    <p:embeddedFont>
      <p:font typeface="Garet" panose="020B0604020202020204" charset="0"/>
      <p:regular r:id="rId20"/>
    </p:embeddedFont>
    <p:embeddedFont>
      <p:font typeface="Garet Bold" panose="020B0604020202020204" charset="0"/>
      <p:regular r:id="rId21"/>
    </p:embeddedFont>
    <p:embeddedFont>
      <p:font typeface="Garet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1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TBME.2025.3582269" TargetMode="Externa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1001607"/>
            <a:ext cx="18288000" cy="251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INTEGRATION OF MULTIMODAL NON-INVASIVE SIGNALS</a:t>
            </a:r>
          </a:p>
          <a:p>
            <a:pPr algn="ctr">
              <a:lnSpc>
                <a:spcPts val="6720"/>
              </a:lnSpc>
            </a:pPr>
            <a:r>
              <a:rPr lang="en-US" sz="48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FOR EARLY DETECTION OF COGNITIVE IMPAIRMENT</a:t>
            </a:r>
          </a:p>
          <a:p>
            <a:pPr algn="ctr">
              <a:lnSpc>
                <a:spcPts val="6775"/>
              </a:lnSpc>
            </a:pPr>
            <a:endParaRPr lang="en-US" sz="4800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27619" y="5048250"/>
            <a:ext cx="10162036" cy="7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TEAM MEMBERS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634417" y="5048250"/>
            <a:ext cx="10162036" cy="7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TEAM SUPERVISOR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294407" y="6041546"/>
            <a:ext cx="10162036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25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DR.R.GNANAKUMARI 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25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AP/CSE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63287" y="6060596"/>
            <a:ext cx="10776194" cy="222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6"/>
              </a:lnSpc>
            </a:pPr>
            <a:r>
              <a:rPr lang="en-US" sz="4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SIVA NITHIYA SREE C 727822TUCS223</a:t>
            </a:r>
          </a:p>
          <a:p>
            <a:pPr algn="l">
              <a:lnSpc>
                <a:spcPts val="5976"/>
              </a:lnSpc>
            </a:pPr>
            <a:r>
              <a:rPr lang="en-US" sz="4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SUBHALAKSHMI S 727822TUCS237</a:t>
            </a:r>
          </a:p>
          <a:p>
            <a:pPr algn="l">
              <a:lnSpc>
                <a:spcPts val="5976"/>
              </a:lnSpc>
              <a:spcBef>
                <a:spcPct val="0"/>
              </a:spcBef>
            </a:pPr>
            <a:r>
              <a:rPr lang="en-US" sz="4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RISHIPRASANTH G 727823TUCS801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415305" y="130158"/>
            <a:ext cx="13043658" cy="122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8"/>
              </a:lnSpc>
            </a:pPr>
            <a:r>
              <a:rPr lang="en-US" sz="7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DETAILS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6292" y="1308042"/>
            <a:ext cx="16031233" cy="264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Base Paper Title: A MULTI MODALITY FUSION MODEL BASED ON DUAL TASK MEASUREMENT FOR THE AUTOMATIC DETECTION OF EARLY STAGE COGNITIVE IMPAIRMENT 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  <a:endParaRPr lang="en-US" sz="3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4597" y="3703571"/>
            <a:ext cx="10844064" cy="201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Authors:Shuqiong</a:t>
            </a: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Wu,Jiaqiang</a:t>
            </a: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Liu,AkosGod</a:t>
            </a:r>
            <a:endParaRPr lang="en-US" sz="3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Published Year :2025</a:t>
            </a:r>
          </a:p>
          <a:p>
            <a:pPr algn="ctr">
              <a:lnSpc>
                <a:spcPts val="5320"/>
              </a:lnSpc>
            </a:pPr>
            <a:endParaRPr lang="en-US" sz="38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4214" y="5176103"/>
            <a:ext cx="16833786" cy="464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Journal Details: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</a:t>
            </a:r>
            <a:r>
              <a:rPr lang="en-US" sz="3800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ournal</a:t>
            </a: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IEEE Transaction on Audio, Speech and Language Processing</a:t>
            </a:r>
          </a:p>
          <a:p>
            <a:pPr algn="l">
              <a:lnSpc>
                <a:spcPts val="5320"/>
              </a:lnSpc>
            </a:pPr>
            <a:r>
              <a:rPr lang="en-US" sz="3800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Volume: </a:t>
            </a: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19</a:t>
            </a:r>
          </a:p>
          <a:p>
            <a:pPr algn="l">
              <a:lnSpc>
                <a:spcPts val="5320"/>
              </a:lnSpc>
            </a:pPr>
            <a:r>
              <a:rPr lang="en-US" sz="3800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Publication Date:</a:t>
            </a: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23 JUNE 2025 </a:t>
            </a:r>
          </a:p>
          <a:p>
            <a:pPr algn="l">
              <a:lnSpc>
                <a:spcPts val="5320"/>
              </a:lnSpc>
            </a:pPr>
            <a:r>
              <a:rPr lang="en-US" sz="3800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DOI:</a:t>
            </a:r>
            <a:r>
              <a:rPr lang="en-US" sz="38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800" u="sng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6" tooltip="https://doi.org/10.1109/TBME.2025.3582269"/>
              </a:rPr>
              <a:t>10.1109/TBME.2025.3582269</a:t>
            </a:r>
          </a:p>
          <a:p>
            <a:pPr algn="l">
              <a:lnSpc>
                <a:spcPts val="5320"/>
              </a:lnSpc>
            </a:pPr>
            <a:endParaRPr lang="en-US" sz="3800" u="sng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  <a:hlinkClick r:id="rId6" tooltip="https://doi.org/10.1109/TBME.2025.358226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060171" y="457200"/>
            <a:ext cx="920516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ABSTRACT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13215"/>
            <a:ext cx="16457130" cy="6309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6873" lvl="1" indent="-428437" algn="l">
              <a:lnSpc>
                <a:spcPts val="5556"/>
              </a:lnSpc>
              <a:buFont typeface="Arial"/>
              <a:buChar char="•"/>
            </a:pPr>
            <a:r>
              <a:rPr lang="en-US" sz="3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Early detection, cognitive impairment, non-invasive, multimodal signals.</a:t>
            </a:r>
          </a:p>
          <a:p>
            <a:pPr marL="856873" lvl="1" indent="-428437" algn="l">
              <a:lnSpc>
                <a:spcPts val="5556"/>
              </a:lnSpc>
              <a:buFont typeface="Arial"/>
              <a:buChar char="•"/>
            </a:pPr>
            <a:r>
              <a:rPr lang="en-US" sz="3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Facial image analysis (CNN), questionnaire evaluation (Naive Bayes), hybrid approach.</a:t>
            </a:r>
          </a:p>
          <a:p>
            <a:pPr marL="856873" lvl="1" indent="-428437" algn="l">
              <a:lnSpc>
                <a:spcPts val="5556"/>
              </a:lnSpc>
              <a:buFont typeface="Arial"/>
              <a:buChar char="•"/>
            </a:pPr>
            <a:r>
              <a:rPr lang="en-US" sz="3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CNN – detects facial patterns, cognitive decline, image classification.</a:t>
            </a:r>
          </a:p>
          <a:p>
            <a:pPr marL="856873" lvl="1" indent="-428437" algn="l">
              <a:lnSpc>
                <a:spcPts val="5556"/>
              </a:lnSpc>
              <a:spcBef>
                <a:spcPct val="0"/>
              </a:spcBef>
              <a:buFont typeface="Arial"/>
              <a:buChar char="•"/>
            </a:pPr>
            <a:r>
              <a:rPr lang="en-US" sz="3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Naive Bayes – analyzes responses, predicts impairment, cognitive score (0–10), accurate assessment.</a:t>
            </a:r>
          </a:p>
          <a:p>
            <a:pPr algn="l">
              <a:lnSpc>
                <a:spcPts val="5556"/>
              </a:lnSpc>
              <a:spcBef>
                <a:spcPct val="0"/>
              </a:spcBef>
            </a:pPr>
            <a:endParaRPr lang="en-US" sz="39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4201402" y="6085054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0780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3430" y="2192592"/>
            <a:ext cx="17152018" cy="2035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6"/>
              </a:lnSpc>
              <a:spcBef>
                <a:spcPct val="0"/>
              </a:spcBef>
            </a:pPr>
            <a:r>
              <a:rPr lang="en-US" sz="3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Cognitive impairment refers to the decline in memory, thinking, and reasoning skills, which can lead to conditions like dementia.</a:t>
            </a:r>
          </a:p>
          <a:p>
            <a:pPr algn="l">
              <a:lnSpc>
                <a:spcPts val="5416"/>
              </a:lnSpc>
              <a:spcBef>
                <a:spcPct val="0"/>
              </a:spcBef>
            </a:pPr>
            <a:r>
              <a:rPr lang="en-US" sz="38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3430" y="4151723"/>
            <a:ext cx="17152018" cy="331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 combines facial image analysis (CNN) and questionnaire-based evaluation (Naive Bayes) for accurate assessment.</a:t>
            </a:r>
          </a:p>
          <a:p>
            <a:pPr marL="820421" lvl="1" indent="-410210" algn="l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The fused output generates a cognitive score out of 10, offering a reliable tool for early diagnosis.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endParaRPr lang="en-US" sz="380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65779"/>
            <a:ext cx="15185556" cy="2600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68"/>
              </a:lnSpc>
            </a:pPr>
            <a:r>
              <a:rPr lang="en-US" sz="74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EXISTING SYSTEM AND  DRAWBACK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1617" y="3989467"/>
            <a:ext cx="5447161" cy="521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Traditional tests (MMSE, MoCA)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Single modality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Textual/numerical focus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Limited accuracy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 evaluation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Time-consuming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4394809"/>
            <a:ext cx="4433800" cy="3469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Single-Modality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Inaccurate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Time-Consuming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Limited 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0" y="3172906"/>
            <a:ext cx="5447161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DRAWBACKS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126892" y="855921"/>
            <a:ext cx="19860814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CHANGES MADE IN THE SYSTEM</a:t>
            </a:r>
          </a:p>
          <a:p>
            <a:pPr algn="ctr">
              <a:lnSpc>
                <a:spcPts val="8400"/>
              </a:lnSpc>
            </a:pPr>
            <a:endParaRPr lang="en-US" sz="6000" b="1">
              <a:solidFill>
                <a:srgbClr val="3F3D3E"/>
              </a:solidFill>
              <a:latin typeface="Alexandria Bold"/>
              <a:ea typeface="Alexandria Bold"/>
              <a:cs typeface="Alexandria Bold"/>
              <a:sym typeface="Alexandri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40541" y="1884621"/>
            <a:ext cx="15045290" cy="699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8463" lvl="1" indent="-439231" algn="l">
              <a:lnSpc>
                <a:spcPts val="5696"/>
              </a:lnSpc>
              <a:buFont typeface="Arial"/>
              <a:buChar char="•"/>
            </a:pPr>
            <a:r>
              <a:rPr lang="en-US" sz="4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Introduced Multimodal Approach – Combined both facial recognition and questionnaire-based analysis instead of using a single data source.</a:t>
            </a:r>
          </a:p>
          <a:p>
            <a:pPr marL="878463" lvl="1" indent="-439231" algn="l">
              <a:lnSpc>
                <a:spcPts val="5696"/>
              </a:lnSpc>
              <a:buFont typeface="Arial"/>
              <a:buChar char="•"/>
            </a:pPr>
            <a:r>
              <a:rPr lang="en-US" sz="4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Enhanced Data Accuracy – Integrated multiple non-invasive signals to achieve more reliable detection results.</a:t>
            </a:r>
          </a:p>
          <a:p>
            <a:pPr marL="878463" lvl="1" indent="-439231" algn="l">
              <a:lnSpc>
                <a:spcPts val="5696"/>
              </a:lnSpc>
              <a:buFont typeface="Arial"/>
              <a:buChar char="•"/>
            </a:pPr>
            <a:r>
              <a:rPr lang="en-US" sz="40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Improved Output Representation – The final system produces a cognitive score out of 10, reflecting the combined effect of both modalities.</a:t>
            </a:r>
          </a:p>
          <a:p>
            <a:pPr algn="l">
              <a:lnSpc>
                <a:spcPts val="4576"/>
              </a:lnSpc>
            </a:pPr>
            <a:endParaRPr lang="en-US" sz="40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600227"/>
            <a:ext cx="13964895" cy="110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8"/>
              </a:lnSpc>
            </a:pPr>
            <a:r>
              <a:rPr lang="en-US" sz="64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18607" y="2276537"/>
            <a:ext cx="13507534" cy="711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8463" lvl="1" indent="-439231" algn="l">
              <a:lnSpc>
                <a:spcPts val="5696"/>
              </a:lnSpc>
              <a:buAutoNum type="arabicPeriod"/>
            </a:pPr>
            <a:r>
              <a:rPr lang="en-US" sz="40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system uses a multimodal non-invasive approach combining facial recognition and questionnaire data.</a:t>
            </a:r>
          </a:p>
          <a:p>
            <a:pPr marL="878463" lvl="1" indent="-439231" algn="l">
              <a:lnSpc>
                <a:spcPts val="5696"/>
              </a:lnSpc>
              <a:buAutoNum type="arabicPeriod"/>
            </a:pPr>
            <a:r>
              <a:rPr lang="en-US" sz="40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 analyzes facial features and questionnaire responses to assess cognitive health accurately.</a:t>
            </a:r>
          </a:p>
          <a:p>
            <a:pPr marL="878463" lvl="1" indent="-439231" algn="l">
              <a:lnSpc>
                <a:spcPts val="5696"/>
              </a:lnSpc>
              <a:buAutoNum type="arabicPeriod"/>
            </a:pPr>
            <a:r>
              <a:rPr lang="en-US" sz="40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fusion of both results generates a final cognitive score out of 10 for early and reliable detection.</a:t>
            </a:r>
          </a:p>
          <a:p>
            <a:pPr algn="l">
              <a:lnSpc>
                <a:spcPts val="5696"/>
              </a:lnSpc>
            </a:pPr>
            <a:endParaRPr lang="en-US" sz="40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BA029-189F-787D-F9C2-914D9016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2FD9FC-FC88-85B4-5960-E3DB989ED2E0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4FD6198-DD9E-36EA-4BC5-0D8E2EE0DC1F}"/>
              </a:ext>
            </a:extLst>
          </p:cNvPr>
          <p:cNvSpPr txBox="1"/>
          <p:nvPr/>
        </p:nvSpPr>
        <p:spPr>
          <a:xfrm>
            <a:off x="0" y="600227"/>
            <a:ext cx="13964895" cy="110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8"/>
              </a:lnSpc>
            </a:pPr>
            <a:r>
              <a:rPr lang="en-US" sz="64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ALGORITHM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7EDD671-DB17-0FC1-6AA1-6B7D4E5D6B69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F2ACF3E-8332-5B7A-52BD-1ED307460BD7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C343C07-20B7-F8CE-5935-785EBCFA8AA3}"/>
              </a:ext>
            </a:extLst>
          </p:cNvPr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C99D7-E98A-AC1F-1DFD-EC88269BEF31}"/>
              </a:ext>
            </a:extLst>
          </p:cNvPr>
          <p:cNvSpPr txBox="1"/>
          <p:nvPr/>
        </p:nvSpPr>
        <p:spPr>
          <a:xfrm>
            <a:off x="3399503" y="2789878"/>
            <a:ext cx="63540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Garet" panose="020B0604020202020204" charset="0"/>
              </a:rPr>
              <a:t>Bayes’ Theorem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et" panose="020B0604020202020204" charset="0"/>
              </a:rPr>
              <a:t>Probabilistic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et" panose="020B0604020202020204" charset="0"/>
              </a:rPr>
              <a:t>Feature Independence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et" panose="020B0604020202020204" charset="0"/>
              </a:rPr>
              <a:t>Posterior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et" panose="020B0604020202020204" charset="0"/>
              </a:rPr>
              <a:t>Text / Spam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Garet" panose="020B0604020202020204" charset="0"/>
              </a:rPr>
              <a:t>Simple &amp; Fast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44736-95CE-9551-DA75-C95C6C525348}"/>
              </a:ext>
            </a:extLst>
          </p:cNvPr>
          <p:cNvSpPr txBox="1"/>
          <p:nvPr/>
        </p:nvSpPr>
        <p:spPr>
          <a:xfrm>
            <a:off x="10157757" y="2789878"/>
            <a:ext cx="65324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3200" b="1" dirty="0">
              <a:latin typeface="Garet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>
              <a:latin typeface="Garet" panose="020B060402020202020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8EAE480-6212-E465-987E-D693EFE1E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521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D7A5E8-647D-C734-0E99-B0ED649AB838}"/>
              </a:ext>
            </a:extLst>
          </p:cNvPr>
          <p:cNvSpPr txBox="1"/>
          <p:nvPr/>
        </p:nvSpPr>
        <p:spPr>
          <a:xfrm>
            <a:off x="10668000" y="2543657"/>
            <a:ext cx="5181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b="1" dirty="0">
                <a:latin typeface="Garet" panose="020B0604020202020204" charset="0"/>
              </a:rPr>
              <a:t>CNN Theorem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Deep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Image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Convolution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Feature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Pattern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et" panose="020B0604020202020204" charset="0"/>
              </a:rPr>
              <a:t>High Accuracy</a:t>
            </a:r>
            <a:endParaRPr lang="en-IN" sz="3200" dirty="0">
              <a:latin typeface="Gare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90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17514" y="480411"/>
            <a:ext cx="9205169" cy="97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8"/>
              </a:lnSpc>
            </a:pPr>
            <a:r>
              <a:rPr lang="en-US" sz="55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PROPOSED SYSTEM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623513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7" name="Freeform 7"/>
          <p:cNvSpPr/>
          <p:nvPr/>
        </p:nvSpPr>
        <p:spPr>
          <a:xfrm>
            <a:off x="7764962" y="425861"/>
            <a:ext cx="9085081" cy="9435279"/>
          </a:xfrm>
          <a:custGeom>
            <a:avLst/>
            <a:gdLst/>
            <a:ahLst/>
            <a:cxnLst/>
            <a:rect l="l" t="t" r="r" b="b"/>
            <a:pathLst>
              <a:path w="9085081" h="9435279">
                <a:moveTo>
                  <a:pt x="0" y="0"/>
                </a:moveTo>
                <a:lnTo>
                  <a:pt x="9085081" y="0"/>
                </a:lnTo>
                <a:lnTo>
                  <a:pt x="9085081" y="9435278"/>
                </a:lnTo>
                <a:lnTo>
                  <a:pt x="0" y="9435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47" t="-856" r="-1153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356018" y="67526"/>
            <a:ext cx="16595500" cy="114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8"/>
              </a:lnSpc>
            </a:pPr>
            <a:r>
              <a:rPr lang="en-US" sz="66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ARCHITECTURE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850043" y="9172575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7" name="Freeform 7"/>
          <p:cNvSpPr/>
          <p:nvPr/>
        </p:nvSpPr>
        <p:spPr>
          <a:xfrm>
            <a:off x="3155643" y="1212364"/>
            <a:ext cx="13264490" cy="8837466"/>
          </a:xfrm>
          <a:custGeom>
            <a:avLst/>
            <a:gdLst/>
            <a:ahLst/>
            <a:cxnLst/>
            <a:rect l="l" t="t" r="r" b="b"/>
            <a:pathLst>
              <a:path w="13264490" h="8837466">
                <a:moveTo>
                  <a:pt x="0" y="0"/>
                </a:moveTo>
                <a:lnTo>
                  <a:pt x="13264490" y="0"/>
                </a:lnTo>
                <a:lnTo>
                  <a:pt x="13264490" y="8837466"/>
                </a:lnTo>
                <a:lnTo>
                  <a:pt x="0" y="88374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7335" y="284829"/>
            <a:ext cx="9205169" cy="104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8"/>
              </a:lnSpc>
            </a:pPr>
            <a:r>
              <a:rPr lang="en-US" sz="6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FLOW OF THE SYSTEM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635088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7" name="Freeform 7"/>
          <p:cNvSpPr/>
          <p:nvPr/>
        </p:nvSpPr>
        <p:spPr>
          <a:xfrm>
            <a:off x="4227472" y="1330606"/>
            <a:ext cx="11505735" cy="8794333"/>
          </a:xfrm>
          <a:custGeom>
            <a:avLst/>
            <a:gdLst/>
            <a:ahLst/>
            <a:cxnLst/>
            <a:rect l="l" t="t" r="r" b="b"/>
            <a:pathLst>
              <a:path w="11505735" h="8794333">
                <a:moveTo>
                  <a:pt x="0" y="0"/>
                </a:moveTo>
                <a:lnTo>
                  <a:pt x="11505735" y="0"/>
                </a:lnTo>
                <a:lnTo>
                  <a:pt x="11505735" y="8794333"/>
                </a:lnTo>
                <a:lnTo>
                  <a:pt x="0" y="87943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339" b="-7553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7335" y="284829"/>
            <a:ext cx="9205169" cy="104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8"/>
              </a:lnSpc>
            </a:pPr>
            <a:r>
              <a:rPr lang="en-US" sz="6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FLOW OF THE SYSTEM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635088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514" y="2276537"/>
            <a:ext cx="16466486" cy="5986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29589" lvl="1" indent="-514794" algn="l">
              <a:lnSpc>
                <a:spcPts val="6676"/>
              </a:lnSpc>
              <a:buFont typeface="Arial"/>
              <a:buChar char="•"/>
            </a:pPr>
            <a:r>
              <a:rPr lang="en-US" sz="4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Collection Module</a:t>
            </a:r>
          </a:p>
          <a:p>
            <a:pPr marL="1029589" lvl="1" indent="-514794" algn="l">
              <a:lnSpc>
                <a:spcPts val="6676"/>
              </a:lnSpc>
              <a:buFont typeface="Arial"/>
              <a:buChar char="•"/>
            </a:pPr>
            <a:r>
              <a:rPr lang="en-US" sz="4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Preprocessing Module</a:t>
            </a:r>
          </a:p>
          <a:p>
            <a:pPr marL="1029589" lvl="1" indent="-514794" algn="l">
              <a:lnSpc>
                <a:spcPts val="6676"/>
              </a:lnSpc>
              <a:buFont typeface="Arial"/>
              <a:buChar char="•"/>
            </a:pPr>
            <a:r>
              <a:rPr lang="en-US" sz="4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Questionarie based Evaluation</a:t>
            </a:r>
          </a:p>
          <a:p>
            <a:pPr marL="1029589" lvl="1" indent="-514794" algn="l">
              <a:lnSpc>
                <a:spcPts val="6676"/>
              </a:lnSpc>
              <a:buFont typeface="Arial"/>
              <a:buChar char="•"/>
            </a:pPr>
            <a:r>
              <a:rPr lang="en-US" sz="4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Facial Recognition and Evaluation </a:t>
            </a:r>
          </a:p>
          <a:p>
            <a:pPr marL="1029589" lvl="1" indent="-514794" algn="l">
              <a:lnSpc>
                <a:spcPts val="6676"/>
              </a:lnSpc>
              <a:buFont typeface="Arial"/>
              <a:buChar char="•"/>
            </a:pPr>
            <a:r>
              <a:rPr lang="en-US" sz="4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Fusion of Questionarie and Facial Recognition</a:t>
            </a:r>
          </a:p>
          <a:p>
            <a:pPr marL="1029589" lvl="1" indent="-514794" algn="l">
              <a:lnSpc>
                <a:spcPts val="6676"/>
              </a:lnSpc>
              <a:buFont typeface="Arial"/>
              <a:buChar char="•"/>
            </a:pPr>
            <a:r>
              <a:rPr lang="en-US" sz="4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Analytics and Result Module</a:t>
            </a:r>
          </a:p>
          <a:p>
            <a:pPr algn="l">
              <a:lnSpc>
                <a:spcPts val="7516"/>
              </a:lnSpc>
            </a:pPr>
            <a:endParaRPr lang="en-US" sz="47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243655" y="1435105"/>
          <a:ext cx="16470719" cy="8877300"/>
        </p:xfrm>
        <a:graphic>
          <a:graphicData uri="http://schemas.openxmlformats.org/drawingml/2006/table">
            <a:tbl>
              <a:tblPr/>
              <a:tblGrid>
                <a:gridCol w="5133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0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0530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CATEGORY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TOOLS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325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Programming Language</a:t>
                      </a:r>
                      <a:endParaRPr lang="en-US" sz="1100"/>
                    </a:p>
                    <a:p>
                      <a:pPr algn="l">
                        <a:lnSpc>
                          <a:spcPts val="448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Python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 implementing the entire system</a:t>
                      </a:r>
                      <a:endParaRPr lang="en-US" sz="1100"/>
                    </a:p>
                    <a:p>
                      <a:pPr algn="l">
                        <a:lnSpc>
                          <a:spcPts val="447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325"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Data Handling</a:t>
                      </a:r>
                      <a:endParaRPr lang="en-US" sz="1100"/>
                    </a:p>
                    <a:p>
                      <a:pPr algn="l">
                        <a:lnSpc>
                          <a:spcPts val="447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NumPy, Pandas</a:t>
                      </a:r>
                      <a:endParaRPr lang="en-US" sz="1100"/>
                    </a:p>
                    <a:p>
                      <a:pPr algn="l">
                        <a:lnSpc>
                          <a:spcPts val="447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 managing datasets and performing numerical computations</a:t>
                      </a:r>
                      <a:endParaRPr lang="en-US" sz="1100"/>
                    </a:p>
                    <a:p>
                      <a:pPr algn="ctr">
                        <a:lnSpc>
                          <a:spcPts val="448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120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Image Processing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OpenCV, PIL (Python Imaging Library)</a:t>
                      </a:r>
                      <a:endParaRPr lang="en-US" sz="1100"/>
                    </a:p>
                    <a:p>
                      <a:pPr algn="ctr">
                        <a:lnSpc>
                          <a:spcPts val="447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 preprocessing and enhancing satellite images</a:t>
                      </a:r>
                      <a:endParaRPr lang="en-US" sz="1100"/>
                    </a:p>
                    <a:p>
                      <a:pPr algn="l">
                        <a:lnSpc>
                          <a:spcPts val="448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-371758" y="-272080"/>
            <a:ext cx="16045822" cy="139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8"/>
              </a:lnSpc>
            </a:pPr>
            <a:r>
              <a:rPr lang="en-US" sz="8106" b="1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PLATFORMS AND 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71758" y="-272080"/>
            <a:ext cx="16045822" cy="139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8"/>
              </a:lnSpc>
            </a:pPr>
            <a:r>
              <a:rPr lang="en-US" sz="8106" b="1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PLATFORMS AND TOOLS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02235"/>
            <a:ext cx="17259300" cy="715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Data Types: Facial images and questionnaire responses related to cognitive assessment.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Sources: Public repositories, research datasets, and locally collected responses.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Formats: Images in .jpg/.</a:t>
            </a:r>
            <a:r>
              <a:rPr lang="en-US" sz="3999" dirty="0" err="1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png</a:t>
            </a:r>
            <a:r>
              <a:rPr lang="en-US" sz="3999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, questionnaires in CSV/Excel formats.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Preprocessing: Images resized and normalized; questionnaire data cleaned, encoded, and fused for cognitive scoring.</a:t>
            </a:r>
          </a:p>
          <a:p>
            <a:pPr algn="ctr">
              <a:lnSpc>
                <a:spcPts val="5599"/>
              </a:lnSpc>
            </a:pPr>
            <a:endParaRPr lang="en-US" sz="3999" b="1" dirty="0">
              <a:solidFill>
                <a:srgbClr val="3F3D3E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94699"/>
            <a:ext cx="16230600" cy="419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just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the system by combining facial recognition (CNN) and questionnaire analysis (Naive Bayes), it ensures greater accuracy and reliability than single-method approaches.</a:t>
            </a:r>
          </a:p>
          <a:p>
            <a:pPr marL="863596" lvl="1" indent="-431798" algn="just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fused cognitive score (0–10) enables early diagnosis, improving efficiency and practical use in healthcare screening.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40383" y="499427"/>
            <a:ext cx="6131852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7892" y="4274503"/>
            <a:ext cx="9222507" cy="1594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Garet" panose="020B0604020202020204" charset="0"/>
                <a:ea typeface="Canva Sans Bold"/>
                <a:cs typeface="Canva Sans Bold"/>
                <a:sym typeface="Canva Sans Bold"/>
              </a:rPr>
              <a:t>THANK YOU..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598</Words>
  <Application>Microsoft Office PowerPoint</Application>
  <PresentationFormat>Custom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Garet Italics</vt:lpstr>
      <vt:lpstr>Garet Bold</vt:lpstr>
      <vt:lpstr>Alexandria Bold</vt:lpstr>
      <vt:lpstr>Calibri</vt:lpstr>
      <vt:lpstr>Canva Sans Bold</vt:lpstr>
      <vt:lpstr>Garet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of multi modal non invasive signals for cognitive impiairment</dc:title>
  <dc:creator>Swetha Mathiyazhagan</dc:creator>
  <cp:lastModifiedBy>Swetha Mathiyazhagan</cp:lastModifiedBy>
  <cp:revision>2</cp:revision>
  <dcterms:created xsi:type="dcterms:W3CDTF">2006-08-16T00:00:00Z</dcterms:created>
  <dcterms:modified xsi:type="dcterms:W3CDTF">2025-11-07T02:05:53Z</dcterms:modified>
  <dc:identifier>DAG3-XapDpw</dc:identifier>
</cp:coreProperties>
</file>